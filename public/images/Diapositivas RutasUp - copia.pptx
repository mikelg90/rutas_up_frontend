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69" r:id="rId4"/>
    <p:sldId id="257" r:id="rId5"/>
    <p:sldId id="259" r:id="rId6"/>
    <p:sldId id="258" r:id="rId7"/>
    <p:sldId id="262" r:id="rId8"/>
    <p:sldId id="271" r:id="rId9"/>
    <p:sldId id="272" r:id="rId10"/>
    <p:sldId id="274" r:id="rId11"/>
    <p:sldId id="273" r:id="rId12"/>
    <p:sldId id="275" r:id="rId13"/>
    <p:sldId id="266" r:id="rId14"/>
    <p:sldId id="276" r:id="rId15"/>
    <p:sldId id="260" r:id="rId16"/>
    <p:sldId id="26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DFC"/>
    <a:srgbClr val="0208A1"/>
    <a:srgbClr val="02078A"/>
    <a:srgbClr val="020BD9"/>
    <a:srgbClr val="242EFD"/>
    <a:srgbClr val="4C54FD"/>
    <a:srgbClr val="7A8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FAE3-8115-8BB5-649A-52E7BD9D4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7AB19E-8FE9-293A-F27B-5B0DF2EC6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5E7D43-5B6D-A62A-FC9E-CEF4E123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83031-0B60-FCA9-F49B-1E5307EC2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CA083E-1F65-0BEA-2BB7-4DF919D8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096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526B9-3CA6-FDC6-15B6-ADEBEE7B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E86D39-1FFC-73CA-81D6-6AA4C374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D4D264-DBB7-9E91-79A1-D4EAFB23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C8B86-BC82-3F0F-2A55-75E58111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2B849-8735-0FDD-44F2-60256806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34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BBC97-7834-0354-1420-4ADA733E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D96653-DB47-C367-DB8B-751063B3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48046A-CDD2-4C2E-D80A-A92A8FB2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FBC383-089B-720A-4AAD-20A74C2F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EF135B-B215-2663-7E9A-91418350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28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EA848-8645-5F89-5E93-E7BF3A10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85A91B-8425-C18D-9016-DF6C0530C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D54044-7AF3-C1C6-DF28-F2A18A6EC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586566-FA1E-B5AE-D0F4-A87C6973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8320C4-5999-8BED-19A5-910F5B1E8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A7DAFE-C2B0-46D5-3F76-C9F7452A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330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66BE4-E0C7-CD51-8B6D-7AC24B28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EF0421-E267-6A9E-DB02-982F6F9D8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55F633-25C0-2944-60F1-42B190AB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3D3094-E19B-6BB6-B84D-E4E4506C5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B85A98-A26A-11B8-5E71-A946894F9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A442753-6A29-0A6E-3B97-A23757FDE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1768EE-3CD6-5750-A5F0-FD7F6C2A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6B3CE58-D794-3A03-C3A0-B29EE434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838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8095D-AFAD-5D7C-C36C-942AE0BC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4CCEE0-A1A1-DA03-166A-E996E3F0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FEEF4B-9077-2AFB-D192-DFE39D68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EE03586-140E-6457-8CA5-10608CF0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873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417A6F-DDD6-C254-EC8A-AC999A51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62B1103-C695-2C28-BC16-7419EA4A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46CD38-F0A0-B41A-1AAF-73999B8A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817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7C4773-569E-CED8-050D-F038642A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DA0819-8431-38A9-2643-FCED3507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49C108-DF62-E424-F5E4-C0518FEEA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8D7B14-86F0-71EB-E2DD-93C8CB44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6C9E3B-5995-34EC-C3A5-99428EE2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B17CAF-6552-5512-34D8-3617507B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080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9CC8A-FBF7-F506-BAAD-C18B3189E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EEBFB5E-908C-4614-1BB0-4FC6FD4BE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2C7AA8-B1E0-7B3D-5ECC-07AB9C378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155F7A-42DF-6D9F-764B-E93892AB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7DE7BE-0FCF-0390-354B-0EB2B862F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67ABB2-4002-4F01-D2A1-573016C0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463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E6946-1CF7-043A-1412-74FB13CAA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609F9F-41BA-CA9F-016E-683A8B0B2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7BE0C3-6A7C-B277-8314-BF616456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45418B-87F8-EAB2-2CB4-042C75688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AA9E95-8398-60AE-4704-71FCE62D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141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D675B7-5E08-5BD1-7791-BF07DCB49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4E496C-4B0C-8D3E-EBDF-F78B0F48A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1D312E-4002-59DD-8FC9-AF3080884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E47A4B-43A4-A733-2D21-64D40040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5F3A4-FF77-55B2-068B-2F87DC93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980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ED3E75-092F-9425-FC01-FF6728A8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96272E-37F1-080D-32F4-6B6F4F3B8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BC685-0291-90E0-2602-68912CAFB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932B14-A384-425D-829D-8EADC7E38596}" type="datetimeFigureOut">
              <a:rPr lang="es-MX" smtClean="0"/>
              <a:t>01/04/2025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8165AA-826C-5EB1-4109-84774C712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3314ED-AFD4-72A4-90C7-CAF7C286F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28516-76F3-49A5-98E5-A0D22D654EF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18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75D1E-B95F-76D3-94A6-60121EEB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F32507-823D-A2B4-9DEB-BF36AA750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8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3F88C-5AFC-0893-D88F-B99944688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F25519-1EE8-DE7D-3ACF-F6F18242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27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4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7FE30-8642-6915-890E-AFB9B3334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A7FA08B-CF05-5099-3F36-48EB6E5E70E6}"/>
              </a:ext>
            </a:extLst>
          </p:cNvPr>
          <p:cNvSpPr txBox="1"/>
          <p:nvPr/>
        </p:nvSpPr>
        <p:spPr>
          <a:xfrm>
            <a:off x="1624780" y="1646550"/>
            <a:ext cx="8942439" cy="318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100" dirty="0">
                <a:solidFill>
                  <a:schemeClr val="bg1"/>
                </a:solidFill>
                <a:latin typeface="Coco Gothic" panose="02000506000000020004" pitchFamily="2" charset="0"/>
              </a:rPr>
              <a:t>Actualmente, muchos ciudadanos utilizan las combis para desplazarse, pero enfrentan desafíos como la falta de información sobre la ubicación de los vehículos, lo que genera incertidumbre y largas esperas. También hay confusión por la ausencia de datos claros sobre las rutas y falta de alertas ante cambios o emergencias. Esto provoca estrés e inseguridad, afectando la experiencia del usuario. Mejorar este sistema de transporte público tiende a ser significativo para ofrecer un transporte más confiable y seguro, incentivando su uso y promoviendo un entorno urbano más sostenible.</a:t>
            </a:r>
            <a:endParaRPr lang="es-MX" sz="21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F294B3A-DADF-8C35-8AF3-51A4F42800AC}"/>
              </a:ext>
            </a:extLst>
          </p:cNvPr>
          <p:cNvSpPr txBox="1"/>
          <p:nvPr/>
        </p:nvSpPr>
        <p:spPr>
          <a:xfrm>
            <a:off x="1634612" y="1032394"/>
            <a:ext cx="42049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LEMON MILK Medium" panose="00000600000000000000" pitchFamily="50" charset="0"/>
              </a:rPr>
              <a:t>Problemática encontrada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3E642A26-79CB-68F9-C1A7-154B9B170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54030" y="5161883"/>
            <a:ext cx="2771823" cy="1440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A6AABADD-C8E3-6737-FEEB-AA4C16CBBDDF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D4604FF-AD28-A4DA-8E78-589408F17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5161883"/>
            <a:ext cx="1153549" cy="144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7D438D-88AC-688E-2568-6A0E9EED8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9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E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B28E2-5CAD-15A2-A8A5-29B3B965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8DFB7B9-ACF5-6685-7CD6-3DC37DFAC90B}"/>
              </a:ext>
            </a:extLst>
          </p:cNvPr>
          <p:cNvSpPr txBox="1"/>
          <p:nvPr/>
        </p:nvSpPr>
        <p:spPr>
          <a:xfrm>
            <a:off x="1728019" y="1646550"/>
            <a:ext cx="8735961" cy="318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100" dirty="0">
                <a:solidFill>
                  <a:schemeClr val="bg1"/>
                </a:solidFill>
                <a:latin typeface="Coco Gothic" panose="02000506000000020004" pitchFamily="2" charset="0"/>
              </a:rPr>
              <a:t>Un sistema de navegación para usuarios de transporte público que incluye visualización en tiempo real de la ubicación de combis, rutas disponibles y asistencia para planificar trayectos. Permitirá almacenar rutas favoritas, recibir notificaciones sobre eventos que afecten el servicio y acceder rápidamente a números de emergencia. El sistema tendrá una app móvil para ciudadanos y una plataforma web para administradores, utilizando tecnologías de geolocalización, bases de datos y notificaciones. Esto mejorará la experiencia, optimizando tiempos y aumentando la seguridad del usuario.</a:t>
            </a:r>
            <a:endParaRPr lang="es-MX" sz="21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584CB1-5300-DC78-BCF3-32A27A485DCB}"/>
              </a:ext>
            </a:extLst>
          </p:cNvPr>
          <p:cNvSpPr txBox="1"/>
          <p:nvPr/>
        </p:nvSpPr>
        <p:spPr>
          <a:xfrm>
            <a:off x="1737851" y="1032394"/>
            <a:ext cx="3664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LEMON MILK Medium" panose="00000600000000000000" pitchFamily="50" charset="0"/>
              </a:rPr>
              <a:t>PROPUESTA DE SOLUCIÓN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8A3EDD-94E4-78E0-5C26-D6A841FD5D93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F3451A8-B9EF-6B93-4523-6FAE97B8C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54030" y="5161883"/>
            <a:ext cx="2771823" cy="144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95F1972-1EE2-13C1-D5AD-77FDA02B9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5161883"/>
            <a:ext cx="1153549" cy="1440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B5BA4C6-C6DA-4CFD-EDAD-2A3C33E2D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24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D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E76E1-5F00-6C96-477F-99C09523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25DDCE3-CDDF-B095-1822-98BD17987209}"/>
              </a:ext>
            </a:extLst>
          </p:cNvPr>
          <p:cNvSpPr txBox="1"/>
          <p:nvPr/>
        </p:nvSpPr>
        <p:spPr>
          <a:xfrm>
            <a:off x="1954161" y="1754702"/>
            <a:ext cx="8283677" cy="2835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100" dirty="0">
                <a:solidFill>
                  <a:schemeClr val="bg1"/>
                </a:solidFill>
                <a:latin typeface="Coco Gothic" panose="02000506000000020004" pitchFamily="2" charset="0"/>
              </a:rPr>
              <a:t>En esta etapa, se desarrollará la app móvil para que los ciudadanos vean la ubicación de combis en tiempo real, conozcan rutas disponibles y planifiquen viajes. Paralelamente, se iniciará la versión web para que los administradores gestionen rutas, vehículos y choferes. Además, se lanzará un piloto en una zona específica de la ciudad, permitiendo pruebas con usuarios reales y ajustes basados en su retroalimentación, sentando las bases para la implementación completa del sistema.</a:t>
            </a:r>
            <a:endParaRPr lang="es-MX" sz="21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9BF33E-ADF6-B60A-8CE0-85479A357B28}"/>
              </a:ext>
            </a:extLst>
          </p:cNvPr>
          <p:cNvSpPr txBox="1"/>
          <p:nvPr/>
        </p:nvSpPr>
        <p:spPr>
          <a:xfrm>
            <a:off x="1954161" y="114054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LEMON MILK Medium" panose="00000600000000000000" pitchFamily="50" charset="0"/>
              </a:rPr>
              <a:t>ALCANCE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25B986-8BC6-3700-0EF9-0218F52751D9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4A18BC-CE43-453F-1033-831F4129C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54030" y="5161883"/>
            <a:ext cx="2771823" cy="144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4ADB0D-E084-F1FD-DB31-B3BA6326A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5161883"/>
            <a:ext cx="1153549" cy="1440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8E59CD4-7FF8-FD56-DF2A-EADEB68F6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B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3C93C-32FD-ED2F-423C-0993E9289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0EE9880-6B5F-69A7-B03F-2B4767ABFE37}"/>
              </a:ext>
            </a:extLst>
          </p:cNvPr>
          <p:cNvSpPr txBox="1"/>
          <p:nvPr/>
        </p:nvSpPr>
        <p:spPr>
          <a:xfrm>
            <a:off x="1035458" y="1077583"/>
            <a:ext cx="10121083" cy="1716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dirty="0">
                <a:solidFill>
                  <a:schemeClr val="bg1"/>
                </a:solidFill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Desarrollar un sistema de navegación electrónico que integre visualización de la ubicación de combis, consulta de rutas disponibles y notificaciones en tiempo real, con el propósito de mejorar la experiencia de los ciudadanos al utilizar el transporte público en Chetumal, facilitando la planificación de sus viajes y proporcionando información relevante para aumentar su seguridad durante los trayectos.</a:t>
            </a:r>
            <a:endParaRPr lang="es-MX" sz="20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45BB81F-59EB-7CCC-EC70-DA27C75CFABF}"/>
              </a:ext>
            </a:extLst>
          </p:cNvPr>
          <p:cNvSpPr txBox="1"/>
          <p:nvPr/>
        </p:nvSpPr>
        <p:spPr>
          <a:xfrm>
            <a:off x="1035457" y="677473"/>
            <a:ext cx="28376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LEMON MILK Medium" panose="00000600000000000000" pitchFamily="50" charset="0"/>
              </a:rPr>
              <a:t>OBJETIVO GENERAL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56D96FC-06D3-F0EE-578E-2FE498BEBB5A}"/>
              </a:ext>
            </a:extLst>
          </p:cNvPr>
          <p:cNvSpPr txBox="1"/>
          <p:nvPr/>
        </p:nvSpPr>
        <p:spPr>
          <a:xfrm>
            <a:off x="1035457" y="3194381"/>
            <a:ext cx="3514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LEMON MILK Medium" panose="00000600000000000000" pitchFamily="50" charset="0"/>
              </a:rPr>
              <a:t>OBJETIVOS ESPECÍFICOS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4B165B-D6AE-79EC-FBE3-5CA0B15F6581}"/>
              </a:ext>
            </a:extLst>
          </p:cNvPr>
          <p:cNvSpPr txBox="1"/>
          <p:nvPr/>
        </p:nvSpPr>
        <p:spPr>
          <a:xfrm>
            <a:off x="1035457" y="3594491"/>
            <a:ext cx="10121083" cy="2375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s-MX" sz="2000" dirty="0">
                <a:solidFill>
                  <a:schemeClr val="bg1"/>
                </a:solidFill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Desarrollar una aplicación móvil que permita a los ciudadanos visualizar en tiempo real la ubicación de las combis y conocer las rutas disponibles en una zona específica de la ciudad.</a:t>
            </a:r>
            <a:endParaRPr lang="es-MX" sz="20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MX" sz="2000" dirty="0">
                <a:solidFill>
                  <a:schemeClr val="bg1"/>
                </a:solidFill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Implementar una versión web para administradores que facilite la gestión de información sobre rutas, vehículos y choferes.</a:t>
            </a:r>
            <a:endParaRPr lang="es-MX" sz="20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s-MX" sz="2000" dirty="0">
                <a:solidFill>
                  <a:schemeClr val="bg1"/>
                </a:solidFill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Lanzar un piloto del sistema en una parte de Chetumal para probar su funcionamiento con un grupo selecto de usuarios.</a:t>
            </a:r>
            <a:endParaRPr lang="es-MX" sz="2000" dirty="0">
              <a:solidFill>
                <a:schemeClr val="bg1"/>
              </a:solidFill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D5FBFB-9CC9-3440-7C5A-14EF8872DBBD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180463-E345-6E5A-A0CB-194554521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8944" y="256117"/>
            <a:ext cx="666909" cy="66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3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F54FB-AE06-FBEB-A121-247F8356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E4711A9-A4A8-3FBF-8DB6-F11E001E614D}"/>
              </a:ext>
            </a:extLst>
          </p:cNvPr>
          <p:cNvSpPr txBox="1"/>
          <p:nvPr/>
        </p:nvSpPr>
        <p:spPr>
          <a:xfrm>
            <a:off x="3850031" y="3163845"/>
            <a:ext cx="4491935" cy="601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1600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“Transformamos ideas en realidades digitales con innovación y desarrollo.”</a:t>
            </a:r>
            <a:endParaRPr lang="es-MX" sz="1600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8C4D76-515D-BC2C-041A-69D3500EBA74}"/>
              </a:ext>
            </a:extLst>
          </p:cNvPr>
          <p:cNvSpPr txBox="1"/>
          <p:nvPr/>
        </p:nvSpPr>
        <p:spPr>
          <a:xfrm>
            <a:off x="1035458" y="423923"/>
            <a:ext cx="4491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latin typeface="LEMON MILK Medium" panose="00000600000000000000" pitchFamily="50" charset="0"/>
              </a:rPr>
              <a:t>PLANEACIÓN ORGANIZACIONAL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EF4BA95-B14E-6A2B-86B6-1039B431F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353" y="960641"/>
            <a:ext cx="2253290" cy="22532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FEC66EA-B625-4A7E-FB10-8B5FB9E97AAF}"/>
              </a:ext>
            </a:extLst>
          </p:cNvPr>
          <p:cNvSpPr txBox="1"/>
          <p:nvPr/>
        </p:nvSpPr>
        <p:spPr>
          <a:xfrm>
            <a:off x="1035459" y="3783574"/>
            <a:ext cx="417813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Misión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2FDD7E-5B0E-A608-234A-7D36A0BC6ADF}"/>
              </a:ext>
            </a:extLst>
          </p:cNvPr>
          <p:cNvSpPr txBox="1"/>
          <p:nvPr/>
        </p:nvSpPr>
        <p:spPr>
          <a:xfrm>
            <a:off x="1027156" y="4182979"/>
            <a:ext cx="10137688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 </a:t>
            </a:r>
            <a:r>
              <a:rPr lang="es-MX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Quantum Dev</a:t>
            </a: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nos enfocamos en modernizar y optimizar al mundo, asegurando proyectos más eficientes, y accesibles. A través de la tecnología, mejoramos el seguimiento de desarrollos para ofrecer un servicio confiable que conecte a los ciudadanos de manera rápida y efectiva, contribuyendo al desarrollo de una seguridad más ordenada y sostenible.</a:t>
            </a:r>
          </a:p>
        </p:txBody>
      </p:sp>
    </p:spTree>
    <p:extLst>
      <p:ext uri="{BB962C8B-B14F-4D97-AF65-F5344CB8AC3E}">
        <p14:creationId xmlns:p14="http://schemas.microsoft.com/office/powerpoint/2010/main" val="137957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5C53F-68C8-B6E3-91B4-2E818FB4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4059F48-9502-D651-1DE0-1743C9DD6E53}"/>
              </a:ext>
            </a:extLst>
          </p:cNvPr>
          <p:cNvSpPr txBox="1"/>
          <p:nvPr/>
        </p:nvSpPr>
        <p:spPr>
          <a:xfrm>
            <a:off x="1035459" y="402036"/>
            <a:ext cx="417813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Visión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D9F73D-ED67-849D-C67C-2E05B61F49AB}"/>
              </a:ext>
            </a:extLst>
          </p:cNvPr>
          <p:cNvSpPr txBox="1"/>
          <p:nvPr/>
        </p:nvSpPr>
        <p:spPr>
          <a:xfrm>
            <a:off x="1027156" y="801441"/>
            <a:ext cx="10137688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En </a:t>
            </a:r>
            <a:r>
              <a:rPr lang="es-MX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Quantum Dev</a:t>
            </a: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creemos en el poder de la tecnología para transformar la vida cotidiana. Nuestra visión es convertirnos en una empresa líder en el desarrollo de soluciones innovadoras, combinando creatividad, inteligencia y automatización para impulsar la transformación digital de empresas y público general.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9DD5AF-F47B-7C5E-F675-71D1501572C1}"/>
              </a:ext>
            </a:extLst>
          </p:cNvPr>
          <p:cNvSpPr txBox="1"/>
          <p:nvPr/>
        </p:nvSpPr>
        <p:spPr>
          <a:xfrm>
            <a:off x="1035459" y="2679715"/>
            <a:ext cx="417813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Valores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2589A4B-AA8E-09F8-3B50-E7DE6E30FF9A}"/>
              </a:ext>
            </a:extLst>
          </p:cNvPr>
          <p:cNvSpPr txBox="1"/>
          <p:nvPr/>
        </p:nvSpPr>
        <p:spPr>
          <a:xfrm>
            <a:off x="1027156" y="3079120"/>
            <a:ext cx="10137688" cy="3058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Innovación constante.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Calidad y precisión.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Colaboración y trabajo en equipo. 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Orientación al cliente.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Compromiso con la ética.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MX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Aprendizaje continuo.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461846A-5094-54B5-662D-F4D118561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415" y="5530828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FF0E-AAE2-A4FC-9BFC-3714BDDB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0EC6B82-4EC8-5A0A-FAC1-A9B50641585C}"/>
              </a:ext>
            </a:extLst>
          </p:cNvPr>
          <p:cNvSpPr txBox="1"/>
          <p:nvPr/>
        </p:nvSpPr>
        <p:spPr>
          <a:xfrm>
            <a:off x="1035460" y="402036"/>
            <a:ext cx="2198628" cy="728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ANÁ</a:t>
            </a:r>
            <a:r>
              <a:rPr lang="es-ES" sz="2000" b="1" dirty="0"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LISIS FODA DE RUTASUP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1C92351-8177-32A7-7C82-D0B96F348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D3F5769-EB49-44F7-CF91-7A91C4C6F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7" b="8926"/>
          <a:stretch/>
        </p:blipFill>
        <p:spPr>
          <a:xfrm>
            <a:off x="3515372" y="390904"/>
            <a:ext cx="5161255" cy="60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732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A5C0-2C83-3E26-76A1-8E951A6A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AC10F1C-DEB9-A576-0225-CC37AD8F161C}"/>
              </a:ext>
            </a:extLst>
          </p:cNvPr>
          <p:cNvSpPr txBox="1"/>
          <p:nvPr/>
        </p:nvSpPr>
        <p:spPr>
          <a:xfrm>
            <a:off x="1035459" y="402036"/>
            <a:ext cx="417813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PLAN DE ACCIÓN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BB7FDFB-8023-1911-854F-1BCFAFDD7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87B29EA-EB99-E204-C7EF-C96F59202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676271"/>
              </p:ext>
            </p:extLst>
          </p:nvPr>
        </p:nvGraphicFramePr>
        <p:xfrm>
          <a:off x="369425" y="1307578"/>
          <a:ext cx="11112333" cy="5175516"/>
        </p:xfrm>
        <a:graphic>
          <a:graphicData uri="http://schemas.openxmlformats.org/drawingml/2006/table">
            <a:tbl>
              <a:tblPr/>
              <a:tblGrid>
                <a:gridCol w="1304648">
                  <a:extLst>
                    <a:ext uri="{9D8B030D-6E8A-4147-A177-3AD203B41FA5}">
                      <a16:colId xmlns:a16="http://schemas.microsoft.com/office/drawing/2014/main" val="1733924362"/>
                    </a:ext>
                  </a:extLst>
                </a:gridCol>
                <a:gridCol w="1055153">
                  <a:extLst>
                    <a:ext uri="{9D8B030D-6E8A-4147-A177-3AD203B41FA5}">
                      <a16:colId xmlns:a16="http://schemas.microsoft.com/office/drawing/2014/main" val="2506094260"/>
                    </a:ext>
                  </a:extLst>
                </a:gridCol>
                <a:gridCol w="1825521">
                  <a:extLst>
                    <a:ext uri="{9D8B030D-6E8A-4147-A177-3AD203B41FA5}">
                      <a16:colId xmlns:a16="http://schemas.microsoft.com/office/drawing/2014/main" val="2558463630"/>
                    </a:ext>
                  </a:extLst>
                </a:gridCol>
                <a:gridCol w="2389517">
                  <a:extLst>
                    <a:ext uri="{9D8B030D-6E8A-4147-A177-3AD203B41FA5}">
                      <a16:colId xmlns:a16="http://schemas.microsoft.com/office/drawing/2014/main" val="2352188812"/>
                    </a:ext>
                  </a:extLst>
                </a:gridCol>
                <a:gridCol w="1466490">
                  <a:extLst>
                    <a:ext uri="{9D8B030D-6E8A-4147-A177-3AD203B41FA5}">
                      <a16:colId xmlns:a16="http://schemas.microsoft.com/office/drawing/2014/main" val="1178701848"/>
                    </a:ext>
                  </a:extLst>
                </a:gridCol>
                <a:gridCol w="1380227">
                  <a:extLst>
                    <a:ext uri="{9D8B030D-6E8A-4147-A177-3AD203B41FA5}">
                      <a16:colId xmlns:a16="http://schemas.microsoft.com/office/drawing/2014/main" val="652420445"/>
                    </a:ext>
                  </a:extLst>
                </a:gridCol>
                <a:gridCol w="552090">
                  <a:extLst>
                    <a:ext uri="{9D8B030D-6E8A-4147-A177-3AD203B41FA5}">
                      <a16:colId xmlns:a16="http://schemas.microsoft.com/office/drawing/2014/main" val="2489146042"/>
                    </a:ext>
                  </a:extLst>
                </a:gridCol>
                <a:gridCol w="1138687">
                  <a:extLst>
                    <a:ext uri="{9D8B030D-6E8A-4147-A177-3AD203B41FA5}">
                      <a16:colId xmlns:a16="http://schemas.microsoft.com/office/drawing/2014/main" val="2243085636"/>
                    </a:ext>
                  </a:extLst>
                </a:gridCol>
              </a:tblGrid>
              <a:tr h="95760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OBJETIVO</a:t>
                      </a:r>
                    </a:p>
                  </a:txBody>
                  <a:tcPr marL="4788" marR="4788" marT="47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ÁREA O DEPARTAMENTO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ACCIONES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PERIODO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RESPONSABLE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ESTATUS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OBSERVACIONES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254978"/>
                  </a:ext>
                </a:extLst>
              </a:tr>
              <a:tr h="173326">
                <a:tc rowSpan="24">
                  <a:txBody>
                    <a:bodyPr/>
                    <a:lstStyle/>
                    <a:p>
                      <a:pPr algn="ctr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Planificar, coordinar y supervisar las tareas asignadas a cada área del equipo de desarrollo con el fin de cumplir en tiempo y forma los entregables del sistema de navegación de transporte público, garantizando su funcionalidad, usabilidad y correcta documentación.</a:t>
                      </a:r>
                    </a:p>
                  </a:txBody>
                  <a:tcPr marL="4788" marR="4788" marT="47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ADMINISTRADOR DE BASE DE DATOS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Mantener actualizada y operativa la base de datos.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Actualización de la base de datos.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(13/01/2025 - 17/01/2025)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60311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Configuración de la base de datos en el servidor.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(23/02/2025 - 05/03/2025)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9953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Implementar mecanismos de respaldo automático y recuperación.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Diseño de estrategia de respaldos automáticos.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(10/03/2025 - 11/03/2025)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82061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Implementación de script de respaldo.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(12/03/2025 - 13/03/2025)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193332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Pruebas de restauración desde backups.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(14/03/2025 - 15/03/2025)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89833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DESARROLLADOR WEB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Implementar y configurar el sistema web.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Migración del BACKEND.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(06/01/2025 - 12/01/2025)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170811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Configuración del servidor FRONTEND.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(10/01/2025 - 18/01/2025)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00376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Configuración del servidor BACKEND.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(15/01/2025 - 30/01/2025)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781338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Traspaso de vistas a nueva tecnología.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(13/02/2025 - 25/02/2025)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 y 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885315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Configuración de vistas en servidores BACKEND.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(25/01/2025 - 26/03/2025)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97036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Optimizar la experiencia del usuario en el sistema web mediante mejoras de rendimiento y diseño responsive.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Refactorización de componentes pesados.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(17/03/2025 - 19/03/2025)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proceso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438958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Adaptación responsive para móviles y tabletas.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(20/03/2025 - 23/03/2025)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417547"/>
                  </a:ext>
                </a:extLst>
              </a:tr>
              <a:tr h="19152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Reducción del tiempo de carga mediante optimización de imágenes y recursos.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( 24/03/2025 - 27/03/2025)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proceso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95331"/>
                  </a:ext>
                </a:extLst>
              </a:tr>
              <a:tr h="19152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DESARROLLADOR MÓVIL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Desarrollar e integrar funcionalidades móviles del sistema.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Creación de acceso rápido a números de emergencia.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(01/02/2025 - 18/02/2025)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Diana Vázquez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18369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Funcionalidad de mejor ruta de punto apunto.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(10/02/2025 - 28/02/2025)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Said Ricardes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367668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Creación y configuración de APIs móviles.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(10/03/2025 - 27/03/2025)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Miguel López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proceso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81429"/>
                  </a:ext>
                </a:extLst>
              </a:tr>
              <a:tr h="19152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Asegurar la compatibilidad y rendimiento de la app móvil en dispositivos Android de gama media y baja.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Pruebas en múltiples dispositivos con especificaciones reducidas.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(18/03/2025 - 28/03/2025)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Diana Vázquez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676070"/>
                  </a:ext>
                </a:extLst>
              </a:tr>
              <a:tr h="19152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 de animaciones, uso de memoria y consumo de red.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(21/03/2025 - 23/03/2025)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Diana Vázquez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proceso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89366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Reducción del tamaño del APK.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(24/03/2025 - 26/03/2025)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Said Ricardes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210520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DOCUMENTADOR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Documentar procesos técnicos y funcionales del proyecto.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Registro de avances por actividad.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(06/01/2025 - 31/01/2025)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Said Ricardes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606493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Redacción de manual técnico y de usuario.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(11/03/2025 - 18/03/2025)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Said Ricardes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 proceso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687846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Consolidación de cronograma y entregables.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(17/03/2025 - 28/03/2025)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Eric Aguilar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938351"/>
                  </a:ext>
                </a:extLst>
              </a:tr>
              <a:tr h="173326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Asegurar la trazabilidad del proyecto mediante documentación detallada de decisiones técnicas y cambios de alcance.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Registro de decisiones técnicas relevantes.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(19/03/2025 - 22/03/2025)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Diana Vázquez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161152"/>
                  </a:ext>
                </a:extLst>
              </a:tr>
              <a:tr h="196308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Documentación de cambios de funcionalidades durante el desarrollo.</a:t>
                      </a:r>
                    </a:p>
                  </a:txBody>
                  <a:tcPr marL="4788" marR="4788" marT="47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(22/03/2025 - 24/03/2025)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Said Ricardes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Hecho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4788" marR="4788" marT="47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731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635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AF94-DBC8-2401-3610-FB2618252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583C851-AC52-E713-F87F-D364DF9FF6D7}"/>
              </a:ext>
            </a:extLst>
          </p:cNvPr>
          <p:cNvSpPr txBox="1"/>
          <p:nvPr/>
        </p:nvSpPr>
        <p:spPr>
          <a:xfrm>
            <a:off x="1035459" y="402036"/>
            <a:ext cx="417813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000" b="1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CRONOGRAMA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12AD3F-5E24-3843-4938-BD47EBAC5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40BD8E-9777-499A-3214-D0582E3F08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7"/>
          <a:stretch/>
        </p:blipFill>
        <p:spPr>
          <a:xfrm>
            <a:off x="2573672" y="781847"/>
            <a:ext cx="7044656" cy="567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63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8EFE-3A0C-DD11-940B-F3A7925A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97600B8-49E7-4DEB-2578-6BEC27B81092}"/>
              </a:ext>
            </a:extLst>
          </p:cNvPr>
          <p:cNvSpPr txBox="1"/>
          <p:nvPr/>
        </p:nvSpPr>
        <p:spPr>
          <a:xfrm>
            <a:off x="524522" y="781847"/>
            <a:ext cx="6814579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b="1" dirty="0">
                <a:latin typeface="Coco Gothic" panose="02000506000000020004" pitchFamily="2" charset="0"/>
              </a:rPr>
              <a:t>RECURSOS HUMANOS Y RECURSOS MATERIALES</a:t>
            </a:r>
            <a:endParaRPr lang="es-MX" sz="2000" b="1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2BDF31F-4677-B592-AA84-8FBD633F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7C5B9526-67C9-0178-475C-32371FD43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426850"/>
              </p:ext>
            </p:extLst>
          </p:nvPr>
        </p:nvGraphicFramePr>
        <p:xfrm>
          <a:off x="524522" y="1307578"/>
          <a:ext cx="11142956" cy="5256947"/>
        </p:xfrm>
        <a:graphic>
          <a:graphicData uri="http://schemas.openxmlformats.org/drawingml/2006/table">
            <a:tbl>
              <a:tblPr/>
              <a:tblGrid>
                <a:gridCol w="1127688">
                  <a:extLst>
                    <a:ext uri="{9D8B030D-6E8A-4147-A177-3AD203B41FA5}">
                      <a16:colId xmlns:a16="http://schemas.microsoft.com/office/drawing/2014/main" val="3457887065"/>
                    </a:ext>
                  </a:extLst>
                </a:gridCol>
                <a:gridCol w="862642">
                  <a:extLst>
                    <a:ext uri="{9D8B030D-6E8A-4147-A177-3AD203B41FA5}">
                      <a16:colId xmlns:a16="http://schemas.microsoft.com/office/drawing/2014/main" val="2045276931"/>
                    </a:ext>
                  </a:extLst>
                </a:gridCol>
                <a:gridCol w="1427420">
                  <a:extLst>
                    <a:ext uri="{9D8B030D-6E8A-4147-A177-3AD203B41FA5}">
                      <a16:colId xmlns:a16="http://schemas.microsoft.com/office/drawing/2014/main" val="962612340"/>
                    </a:ext>
                  </a:extLst>
                </a:gridCol>
                <a:gridCol w="365374">
                  <a:extLst>
                    <a:ext uri="{9D8B030D-6E8A-4147-A177-3AD203B41FA5}">
                      <a16:colId xmlns:a16="http://schemas.microsoft.com/office/drawing/2014/main" val="1615126701"/>
                    </a:ext>
                  </a:extLst>
                </a:gridCol>
                <a:gridCol w="1364882">
                  <a:extLst>
                    <a:ext uri="{9D8B030D-6E8A-4147-A177-3AD203B41FA5}">
                      <a16:colId xmlns:a16="http://schemas.microsoft.com/office/drawing/2014/main" val="3577385000"/>
                    </a:ext>
                  </a:extLst>
                </a:gridCol>
                <a:gridCol w="1558909">
                  <a:extLst>
                    <a:ext uri="{9D8B030D-6E8A-4147-A177-3AD203B41FA5}">
                      <a16:colId xmlns:a16="http://schemas.microsoft.com/office/drawing/2014/main" val="3250563324"/>
                    </a:ext>
                  </a:extLst>
                </a:gridCol>
                <a:gridCol w="1627891">
                  <a:extLst>
                    <a:ext uri="{9D8B030D-6E8A-4147-A177-3AD203B41FA5}">
                      <a16:colId xmlns:a16="http://schemas.microsoft.com/office/drawing/2014/main" val="4195593921"/>
                    </a:ext>
                  </a:extLst>
                </a:gridCol>
                <a:gridCol w="241540">
                  <a:extLst>
                    <a:ext uri="{9D8B030D-6E8A-4147-A177-3AD203B41FA5}">
                      <a16:colId xmlns:a16="http://schemas.microsoft.com/office/drawing/2014/main" val="424185138"/>
                    </a:ext>
                  </a:extLst>
                </a:gridCol>
                <a:gridCol w="733245">
                  <a:extLst>
                    <a:ext uri="{9D8B030D-6E8A-4147-A177-3AD203B41FA5}">
                      <a16:colId xmlns:a16="http://schemas.microsoft.com/office/drawing/2014/main" val="1850490463"/>
                    </a:ext>
                  </a:extLst>
                </a:gridCol>
                <a:gridCol w="806822">
                  <a:extLst>
                    <a:ext uri="{9D8B030D-6E8A-4147-A177-3AD203B41FA5}">
                      <a16:colId xmlns:a16="http://schemas.microsoft.com/office/drawing/2014/main" val="3171209853"/>
                    </a:ext>
                  </a:extLst>
                </a:gridCol>
                <a:gridCol w="1026543">
                  <a:extLst>
                    <a:ext uri="{9D8B030D-6E8A-4147-A177-3AD203B41FA5}">
                      <a16:colId xmlns:a16="http://schemas.microsoft.com/office/drawing/2014/main" val="1591180011"/>
                    </a:ext>
                  </a:extLst>
                </a:gridCol>
              </a:tblGrid>
              <a:tr h="141918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81699"/>
                  </a:ext>
                </a:extLst>
              </a:tr>
              <a:tr h="141918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RECURSOS HUMANOS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s-MX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761228"/>
                  </a:ext>
                </a:extLst>
              </a:tr>
              <a:tr h="370222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ÁREA O DEPARTAMENTO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PUESTO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PERFIL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HABILIDADES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FUNCIONES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NIVEL</a:t>
                      </a:r>
                      <a:b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(JEFATURA/OPERATIVO)</a:t>
                      </a:r>
                      <a:endParaRPr lang="es-MX" sz="95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SUELDO MENSUAL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OBSERVACIONES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191822"/>
                  </a:ext>
                </a:extLst>
              </a:tr>
              <a:tr h="33196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CONTRATACIÓN 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PROGRAMADOR WEB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Lic. en Ingeniería en Software o TSU en TI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HTML, CSS, JavaScript, PHP, pruebas, seguridad web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Desarrollo y mantenimiento del portal web, revisión de sesiones y formularios seguros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Operativo</a:t>
                      </a:r>
                      <a:endParaRPr lang="es-MX" sz="950" dirty="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14,000.00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505663"/>
                  </a:ext>
                </a:extLst>
              </a:tr>
              <a:tr h="246814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PROGRAMADOR MÓVIL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TSU o Lic. en Desarrollo de Software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9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React</a:t>
                      </a:r>
                      <a:r>
                        <a:rPr lang="pt-B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9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Native</a:t>
                      </a:r>
                      <a:r>
                        <a:rPr lang="pt-BR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consumo de APIs, UI/UX, </a:t>
                      </a:r>
                      <a:r>
                        <a:rPr lang="pt-BR" sz="9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testing</a:t>
                      </a:r>
                      <a:endParaRPr lang="pt-BR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Desarrollo y mantenimiento de app móvil RutasUp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Operativo</a:t>
                      </a:r>
                      <a:endParaRPr lang="es-MX" sz="950" dirty="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14,000.00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38435"/>
                  </a:ext>
                </a:extLst>
              </a:tr>
              <a:tr h="246814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ADMINISTRADOR DE BASE DE DATOS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Ing. en Sistemas o afín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PostgreSQL, seguridad, </a:t>
                      </a:r>
                      <a:r>
                        <a:rPr lang="es-MX" sz="9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backups</a:t>
                      </a:r>
                      <a:endParaRPr lang="es-MX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y aseguramiento de la base de datos, control de accesos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Jefatura</a:t>
                      </a:r>
                      <a:endParaRPr lang="es-MX" sz="950" dirty="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18,000.00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961496"/>
                  </a:ext>
                </a:extLst>
              </a:tr>
              <a:tr h="246814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DOCUMENTADOR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TSU o Lic. en Administración / Informática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Redacción técnica, control de versiones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Documentación de técnica de todo lo relacionado al proyecto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Operativo</a:t>
                      </a:r>
                      <a:endParaRPr lang="es-MX" sz="950" dirty="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12,000.00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81698"/>
                  </a:ext>
                </a:extLst>
              </a:tr>
              <a:tr h="37022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ADMINISTRADOR DE SERVIDORES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s-MX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Ing. en Redes o Sistemas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BIND, Apache, FTP, firewalls, monitoreo, seguridad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Gestión de servidores DNS, Web y BD, configuración de firewall, actualizaciones y monitoreo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Jefatura</a:t>
                      </a:r>
                      <a:endParaRPr lang="es-MX" sz="950" dirty="0"/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18,000.00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697523"/>
                  </a:ext>
                </a:extLst>
              </a:tr>
              <a:tr h="141918">
                <a:tc gridSpan="9">
                  <a:txBody>
                    <a:bodyPr/>
                    <a:lstStyle/>
                    <a:p>
                      <a:pPr algn="r" fontAlgn="b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70" marR="6170" marT="61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76,000.00 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246794"/>
                  </a:ext>
                </a:extLst>
              </a:tr>
              <a:tr h="141918"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RECURSOS MATERIALES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s-MX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257564"/>
                  </a:ext>
                </a:extLst>
              </a:tr>
              <a:tr h="246814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CLASIFICACIÓN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CANTIDAD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CONCEPTO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FUNCIÓN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FUNCIÓN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ESTATUS</a:t>
                      </a:r>
                      <a:b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(NUEVO/USO)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ESTATUS DE ADQUISICIÓN (COTIZACIÓN/PAGADO)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</a:t>
                      </a:r>
                      <a:endParaRPr lang="es-ES" sz="95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OBSERVACIONES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1867"/>
                  </a:ext>
                </a:extLst>
              </a:tr>
              <a:tr h="246814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EDIFICIOS E INSTALACIONES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Oficina física pequeña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Espacio de trabajo para el equipo</a:t>
                      </a:r>
                      <a:endParaRPr lang="es-MX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Espacio de trabajo para el equipo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15,000.00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15,000.00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15,000.00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178961"/>
                  </a:ext>
                </a:extLst>
              </a:tr>
              <a:tr h="246814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MÁQUINAS Y EQUIPO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Servidor dedicado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Alojar servicios DNS, Web y BD con redundancia</a:t>
                      </a:r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Alojar servicios DNS, Web y BD con redundancia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Nuevo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53,000.00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53,000.00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159,000.00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19165"/>
                  </a:ext>
                </a:extLst>
              </a:tr>
              <a:tr h="246814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MÁQUINAS Y EQUIPO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Firewall empresarial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Protección perimetral de red, control de accesos</a:t>
                      </a:r>
                      <a:endParaRPr lang="es-MX" sz="9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Protección perimetral de red, control de accesos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Nuevo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20,000.00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20,000.00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20,000.00 </a:t>
                      </a:r>
                      <a:endParaRPr lang="es-MX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99866"/>
                  </a:ext>
                </a:extLst>
              </a:tr>
              <a:tr h="22336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MÁQUINAS Y EQUIPO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Disco duro externo 4TB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Respaldo local cifrado para contingencias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Respaldo local cifrado para contingencias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Nuevo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3,800.00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3,800.00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3,800.00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625617"/>
                  </a:ext>
                </a:extLst>
              </a:tr>
              <a:tr h="223367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MÁQUINAS Y EQUIPO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Licencias de seguridad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Protección y auditoría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Protección y auditoría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Nuevo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Pagado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18,000.00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18,000.00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18,000.00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557392"/>
                  </a:ext>
                </a:extLst>
              </a:tr>
              <a:tr h="246814">
                <a:tc>
                  <a:txBody>
                    <a:bodyPr/>
                    <a:lstStyle/>
                    <a:p>
                      <a:pPr algn="l" fontAlgn="ctr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MÁQUINAS Y EQUIPO</a:t>
                      </a:r>
                    </a:p>
                  </a:txBody>
                  <a:tcPr marL="6170" marR="6170" marT="617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Plataforma de capacitación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Cursos técnicos y de seguridad para el personal</a:t>
                      </a:r>
                      <a:endParaRPr lang="es-MX" sz="9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ES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Cursos técnicos y de seguridad para el personal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Nuevo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Cotizado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9,200.00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r>
                        <a:rPr lang="es-MX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       9,200.00 </a:t>
                      </a:r>
                    </a:p>
                  </a:txBody>
                  <a:tcPr marL="6170" marR="6170" marT="617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9,200.00 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 observaciones.</a:t>
                      </a:r>
                    </a:p>
                  </a:txBody>
                  <a:tcPr marL="6170" marR="6170" marT="617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080199"/>
                  </a:ext>
                </a:extLst>
              </a:tr>
              <a:tr h="141918">
                <a:tc gridSpan="9">
                  <a:txBody>
                    <a:bodyPr/>
                    <a:lstStyle/>
                    <a:p>
                      <a:pPr algn="r" fontAlgn="b"/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SUBTOTAL</a:t>
                      </a:r>
                    </a:p>
                  </a:txBody>
                  <a:tcPr marL="6170" marR="6170" marT="61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225,000.00 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999799"/>
                  </a:ext>
                </a:extLst>
              </a:tr>
              <a:tr h="148089">
                <a:tc gridSpan="9">
                  <a:txBody>
                    <a:bodyPr/>
                    <a:lstStyle/>
                    <a:p>
                      <a:pPr algn="r" fontAlgn="b"/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6170" marR="6170" marT="617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301,000.00 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170" marR="6170" marT="617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665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2060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E1FD-47EE-3490-5F44-3068BC33F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53F3C8-EB76-7ACF-ADFE-395C1B54D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273861"/>
              </p:ext>
            </p:extLst>
          </p:nvPr>
        </p:nvGraphicFramePr>
        <p:xfrm>
          <a:off x="882622" y="1468493"/>
          <a:ext cx="10426756" cy="49304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7780">
                  <a:extLst>
                    <a:ext uri="{9D8B030D-6E8A-4147-A177-3AD203B41FA5}">
                      <a16:colId xmlns:a16="http://schemas.microsoft.com/office/drawing/2014/main" val="1570505863"/>
                    </a:ext>
                  </a:extLst>
                </a:gridCol>
                <a:gridCol w="4402873">
                  <a:extLst>
                    <a:ext uri="{9D8B030D-6E8A-4147-A177-3AD203B41FA5}">
                      <a16:colId xmlns:a16="http://schemas.microsoft.com/office/drawing/2014/main" val="1381465121"/>
                    </a:ext>
                  </a:extLst>
                </a:gridCol>
                <a:gridCol w="4296103">
                  <a:extLst>
                    <a:ext uri="{9D8B030D-6E8A-4147-A177-3AD203B41FA5}">
                      <a16:colId xmlns:a16="http://schemas.microsoft.com/office/drawing/2014/main" val="3587041856"/>
                    </a:ext>
                  </a:extLst>
                </a:gridCol>
              </a:tblGrid>
              <a:tr h="3474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Servidor / Área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Hallazgo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Propuesta de solución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787485"/>
                  </a:ext>
                </a:extLst>
              </a:tr>
              <a:tr h="386382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Servidor DNS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Archivos residuales de otras aplicaciones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Eliminar archivos innecesarios y organizar configuración.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206817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Ausencia de documentación sobre zonas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Documentar y versionar configuración de zonas DNS.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760874"/>
                  </a:ext>
                </a:extLst>
              </a:tr>
              <a:tr h="389194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Vulnerabilidades CVE-2021-25215, CVE-2023-29491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Actualizar BIND a la versión más actual.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652588"/>
                  </a:ext>
                </a:extLst>
              </a:tr>
              <a:tr h="386382">
                <a:tc row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Servidor Web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FTP expuesto públicamente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Cerrar puerto FTP y usar SFTP con autenticación por claves.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644577"/>
                  </a:ext>
                </a:extLst>
              </a:tr>
              <a:tr h="328164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Archivos JSON públicos con datos personales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Eliminar o restringir archivos con información personal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89511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Credenciales </a:t>
                      </a:r>
                      <a:r>
                        <a:rPr lang="es-MX" sz="1200" dirty="0" err="1">
                          <a:effectLst/>
                        </a:rPr>
                        <a:t>root</a:t>
                      </a:r>
                      <a:r>
                        <a:rPr lang="es-MX" sz="1200" dirty="0">
                          <a:effectLst/>
                        </a:rPr>
                        <a:t> visibles desde el sistema web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Eliminar exposición, rotar contraseñas y revisar permisos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829136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Vulnerabilidades CVE-2020-9273, CVE-2021-29472, CVE-2023-1234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Actualizar Apache la versión más actual y aplicar revisión del código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22955"/>
                  </a:ext>
                </a:extLst>
              </a:tr>
              <a:tr h="38638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Servidor Base de Datos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PostgreSQL acepta conexiones desde cualquier IP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Restringir accesos en </a:t>
                      </a:r>
                      <a:r>
                        <a:rPr lang="es-MX" sz="1200" dirty="0" err="1">
                          <a:effectLst/>
                        </a:rPr>
                        <a:t>pg_hba.conf</a:t>
                      </a:r>
                      <a:r>
                        <a:rPr lang="es-MX" sz="1200" dirty="0">
                          <a:effectLst/>
                        </a:rPr>
                        <a:t>.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531855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Vulnerabilidades CVE-2022-24112, CVE-2022-41862, CVE-2021-42013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Actualizar PostgreSQL a la versión más actual y habilitar pgAudit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542725"/>
                  </a:ext>
                </a:extLst>
              </a:tr>
              <a:tr h="388235">
                <a:tc row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solidFill>
                            <a:schemeClr val="tx1"/>
                          </a:solidFill>
                          <a:effectLst/>
                        </a:rPr>
                        <a:t>Acciones generales</a:t>
                      </a:r>
                      <a:endParaRPr lang="es-MX" sz="12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Infraestructura vulnerable sin detección de amenazas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Configurar IDS, cerrar puertos no necesarios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798536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Falta de respaldo estructurado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Implementar backups cifrados y pruebas de restauración periódicas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76893"/>
                  </a:ext>
                </a:extLst>
              </a:tr>
              <a:tr h="38638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>
                          <a:effectLst/>
                        </a:rPr>
                        <a:t>Monitoreo y alertas insuficientes</a:t>
                      </a:r>
                      <a:endParaRPr lang="es-MX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s-MX" sz="1200" dirty="0">
                          <a:effectLst/>
                        </a:rPr>
                        <a:t>Integrar monitoreo 24/7 y herramientas de alerta temprana</a:t>
                      </a:r>
                      <a:endParaRPr lang="es-MX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8379" marR="38379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433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D01D5D5-E89F-CA65-48B0-9623212EE982}"/>
              </a:ext>
            </a:extLst>
          </p:cNvPr>
          <p:cNvSpPr txBox="1"/>
          <p:nvPr/>
        </p:nvSpPr>
        <p:spPr>
          <a:xfrm>
            <a:off x="779820" y="401918"/>
            <a:ext cx="6859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latin typeface="LEMON MILK Medium" panose="00000600000000000000" pitchFamily="50" charset="0"/>
              </a:rPr>
              <a:t>SEGURIDAD EN EL DESARROLLO DE APLICACIONES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604ECD3-782B-BF9F-AB8D-4DACA75A31FB}"/>
              </a:ext>
            </a:extLst>
          </p:cNvPr>
          <p:cNvSpPr txBox="1"/>
          <p:nvPr/>
        </p:nvSpPr>
        <p:spPr>
          <a:xfrm>
            <a:off x="820995" y="935558"/>
            <a:ext cx="1012108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Diagnóstico de solución con base a hallazgos:</a:t>
            </a:r>
            <a:endParaRPr lang="es-MX" sz="2000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C1B9DE1-87EE-02B4-19EE-3C6B10271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20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F20CE-9C50-4699-C90D-8A0324BB0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18CE4C5-4EAE-35D6-F399-005A2FCA9C76}"/>
              </a:ext>
            </a:extLst>
          </p:cNvPr>
          <p:cNvSpPr txBox="1"/>
          <p:nvPr/>
        </p:nvSpPr>
        <p:spPr>
          <a:xfrm>
            <a:off x="779820" y="401918"/>
            <a:ext cx="6859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dirty="0">
                <a:latin typeface="LEMON MILK Medium" panose="00000600000000000000" pitchFamily="50" charset="0"/>
              </a:rPr>
              <a:t>SEGURIDAD EN EL DESARROLLO DE APLICACIONES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8923D6F-B4EA-3D5C-0FA0-4EADBF4D68A8}"/>
              </a:ext>
            </a:extLst>
          </p:cNvPr>
          <p:cNvSpPr txBox="1"/>
          <p:nvPr/>
        </p:nvSpPr>
        <p:spPr>
          <a:xfrm>
            <a:off x="820995" y="935558"/>
            <a:ext cx="10121083" cy="399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dirty="0">
                <a:effectLst/>
                <a:latin typeface="Coco Gothic" panose="02000506000000020004" pitchFamily="2" charset="0"/>
                <a:ea typeface="Calibri" panose="020F0502020204030204" pitchFamily="34" charset="0"/>
                <a:cs typeface="Arial" panose="020B0604020202020204" pitchFamily="34" charset="0"/>
              </a:rPr>
              <a:t>Herramientas utilizadas</a:t>
            </a:r>
            <a:endParaRPr lang="es-MX" sz="2000" dirty="0">
              <a:effectLst/>
              <a:latin typeface="Coco Gothic" panose="02000506000000020004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C98940C-A4A9-3F62-2832-6DF831DB4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F319F89-9C0C-FDAF-B808-403DD284F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372" y="1929404"/>
            <a:ext cx="2857500" cy="1600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89CF2E6-024B-A530-1EBA-46F550985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707" y="3697019"/>
            <a:ext cx="5214829" cy="266445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90095C0-65CB-2AA7-7D72-EF9F52536D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480" y="1657942"/>
            <a:ext cx="2143125" cy="214312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ECA3345-C441-FB7E-B948-BA403A413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9" b="3656"/>
          <a:stretch/>
        </p:blipFill>
        <p:spPr>
          <a:xfrm>
            <a:off x="510009" y="3697019"/>
            <a:ext cx="5256065" cy="266445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4A6DB68-D2CB-7693-E34B-873B5F62CE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926" y="1334963"/>
            <a:ext cx="21431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27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78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3F10B-2330-18D9-E277-4CE2DF63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B274A70-1EFF-5F57-BBD6-232EEE8EEB05}"/>
              </a:ext>
            </a:extLst>
          </p:cNvPr>
          <p:cNvSpPr txBox="1"/>
          <p:nvPr/>
        </p:nvSpPr>
        <p:spPr>
          <a:xfrm>
            <a:off x="1527056" y="794806"/>
            <a:ext cx="6678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  <a:latin typeface="LEMON MILK Medium" panose="00000600000000000000" pitchFamily="50" charset="0"/>
              </a:rPr>
              <a:t>DEMOSTRACIÓN DE APLICACIONES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A39F537-EF48-E894-A1D2-895B87F98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" r="1313" b="-1"/>
          <a:stretch/>
        </p:blipFill>
        <p:spPr>
          <a:xfrm>
            <a:off x="1639162" y="1559377"/>
            <a:ext cx="6840000" cy="29708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85BE1C-0EBC-9F20-8FF7-27A4A49CE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516" y="794806"/>
            <a:ext cx="1800000" cy="37354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CF819DA-BDC3-80ED-0827-0B4FF6854FBF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5FC0AC-CFAB-3E0A-52A7-59FE59776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54030" y="5161883"/>
            <a:ext cx="2771823" cy="144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D689B3B-F725-554D-2AE4-899B5E003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5161883"/>
            <a:ext cx="1153549" cy="144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A940B32-1AB6-9E4C-AB3B-3A53FFCECC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98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A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7F2FE-4EA8-4A32-CF55-F350DF9B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3DE0B48-3255-F183-14D3-7BEB0ABA9C45}"/>
              </a:ext>
            </a:extLst>
          </p:cNvPr>
          <p:cNvSpPr txBox="1"/>
          <p:nvPr/>
        </p:nvSpPr>
        <p:spPr>
          <a:xfrm>
            <a:off x="2259052" y="2721114"/>
            <a:ext cx="7673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000" dirty="0">
                <a:solidFill>
                  <a:schemeClr val="bg1"/>
                </a:solidFill>
                <a:latin typeface="LEMON MILK Medium" panose="00000600000000000000" pitchFamily="50" charset="0"/>
              </a:rPr>
              <a:t>GRACIAS POR SU ATENCIÓN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C42ED2-7B2C-86CC-261E-967D69FF1A6F}"/>
              </a:ext>
            </a:extLst>
          </p:cNvPr>
          <p:cNvSpPr/>
          <p:nvPr/>
        </p:nvSpPr>
        <p:spPr>
          <a:xfrm>
            <a:off x="0" y="6601883"/>
            <a:ext cx="12192000" cy="25805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846F4F-5C58-34D0-32A9-96AFB782D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54030" y="5161883"/>
            <a:ext cx="2771823" cy="1440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D1288C-BE2E-1F7A-C925-4E45CC95F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09" y="5161883"/>
            <a:ext cx="1153549" cy="1440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A04E5ED-A7E4-FCF9-4737-5D94EE74B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92" y="256117"/>
            <a:ext cx="1051461" cy="1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49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1783</Words>
  <Application>Microsoft Office PowerPoint</Application>
  <PresentationFormat>Panorámica</PresentationFormat>
  <Paragraphs>332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Cambria</vt:lpstr>
      <vt:lpstr>Coco Gothic</vt:lpstr>
      <vt:lpstr>LEMON MILK Medium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Eduardo Ricardes Badillo</dc:creator>
  <cp:lastModifiedBy>Said Eduardo Ricardes Badillo</cp:lastModifiedBy>
  <cp:revision>17</cp:revision>
  <dcterms:created xsi:type="dcterms:W3CDTF">2024-12-02T13:53:12Z</dcterms:created>
  <dcterms:modified xsi:type="dcterms:W3CDTF">2025-04-02T14:56:58Z</dcterms:modified>
</cp:coreProperties>
</file>